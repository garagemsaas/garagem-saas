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5febfa50034169" /><Relationship Type="http://schemas.openxmlformats.org/officeDocument/2006/relationships/extended-properties" Target="/docProps/app.xml" Id="R39a5100e694146c6" /><Relationship Type="http://schemas.openxmlformats.org/officeDocument/2006/relationships/officeDocument" Target="/ppt/presentation.xml" Id="Re73af07d3dcc45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86c3d00bf0472a"/>
  </p:sldMasterIdLst>
  <p:notesMasterIdLst>
    <p:notesMasterId xmlns:r="http://schemas.openxmlformats.org/officeDocument/2006/relationships" r:id="R08812869bf7d4f1e"/>
  </p:notesMasterIdLst>
  <p:sldIdLst>
    <p:sldId xmlns:r="http://schemas.openxmlformats.org/officeDocument/2006/relationships" id="256" r:id="R5679f33964a84ddd"/>
    <p:sldId xmlns:r="http://schemas.openxmlformats.org/officeDocument/2006/relationships" id="257" r:id="R9671eb57b3b44d50"/>
    <p:sldId xmlns:r="http://schemas.openxmlformats.org/officeDocument/2006/relationships" id="258" r:id="Rd45891af4bf1420e"/>
    <p:sldId xmlns:r="http://schemas.openxmlformats.org/officeDocument/2006/relationships" id="259" r:id="Rbf060515612c4874"/>
    <p:sldId xmlns:r="http://schemas.openxmlformats.org/officeDocument/2006/relationships" id="260" r:id="Rd16dac2c96b84c0b"/>
    <p:sldId xmlns:r="http://schemas.openxmlformats.org/officeDocument/2006/relationships" id="261" r:id="R54c3fe73543249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fa78e04ea640cd" /><Relationship Type="http://schemas.openxmlformats.org/officeDocument/2006/relationships/slideMaster" Target="/ppt/slideMasters/slideMaster1.xml" Id="R6486c3d00bf0472a" /><Relationship Type="http://schemas.openxmlformats.org/officeDocument/2006/relationships/notesMaster" Target="/ppt/notesMasters/notesMaster1.xml" Id="R08812869bf7d4f1e" /><Relationship Type="http://schemas.openxmlformats.org/officeDocument/2006/relationships/presProps" Target="/ppt/presProps.xml" Id="R46f8e992c198483e" /><Relationship Type="http://schemas.openxmlformats.org/officeDocument/2006/relationships/tableStyles" Target="/ppt/tableStyles.xml" Id="R7021d708da164f60" /><Relationship Type="http://schemas.openxmlformats.org/officeDocument/2006/relationships/slide" Target="/ppt/slides/slide1.xml" Id="R5679f33964a84ddd" /><Relationship Type="http://schemas.openxmlformats.org/officeDocument/2006/relationships/slide" Target="/ppt/slides/slide2.xml" Id="R9671eb57b3b44d50" /><Relationship Type="http://schemas.openxmlformats.org/officeDocument/2006/relationships/slide" Target="/ppt/slides/slide3.xml" Id="Rd45891af4bf1420e" /><Relationship Type="http://schemas.openxmlformats.org/officeDocument/2006/relationships/slide" Target="/ppt/slides/slide4.xml" Id="Rbf060515612c4874" /><Relationship Type="http://schemas.openxmlformats.org/officeDocument/2006/relationships/slide" Target="/ppt/slides/slide5.xml" Id="Rd16dac2c96b84c0b" /><Relationship Type="http://schemas.openxmlformats.org/officeDocument/2006/relationships/slide" Target="/ppt/slides/slide6.xml" Id="R54c3fe73543249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fa887be9c740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91481004d14e26" /><Relationship Type="http://schemas.openxmlformats.org/officeDocument/2006/relationships/notesMaster" Target="/ppt/notesMasters/notesMaster1.xml" Id="R851770aede474e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54dc174f224c8d" /><Relationship Type="http://schemas.openxmlformats.org/officeDocument/2006/relationships/notesMaster" Target="/ppt/notesMasters/notesMaster1.xml" Id="Rd18c8e1c312e48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e87b35b1724d5b" /><Relationship Type="http://schemas.openxmlformats.org/officeDocument/2006/relationships/notesMaster" Target="/ppt/notesMasters/notesMaster1.xml" Id="Re8c0c6d7c57b45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843fd1ffc74e09" /><Relationship Type="http://schemas.openxmlformats.org/officeDocument/2006/relationships/notesMaster" Target="/ppt/notesMasters/notesMaster1.xml" Id="Rc0f4673817894a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98ec66d0ba49c3" /><Relationship Type="http://schemas.openxmlformats.org/officeDocument/2006/relationships/notesMaster" Target="/ppt/notesMasters/notesMaster1.xml" Id="R404498fe937b48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9ef6b7bacd41fb" /><Relationship Type="http://schemas.openxmlformats.org/officeDocument/2006/relationships/notesMaster" Target="/ppt/notesMasters/notesMaster1.xml" Id="R6f24e95c656c42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produto sem promessa de retorno financeiro. Frase-guia fornecida pelos sócios.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Escopo verificado no frontend: App.tsx, OrderDetail.tsx e PublicOrder.tsx. Mostrar a demonstração com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internas: docs/fase5-caua.md e frontend/src/Recovery.tsx. Nenhum resultado financeiro de cliente é alegado.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Provisionamento não é autoatendimento. Combinar implantação na proposta, sem prometer prazo ou suporte ilimitado.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proposta precisa de aprovação dos sócios. Sem valores, teste gratuito, desconto, SLA ou limites inventados. Base: docs/fase6-piloto.md.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Perguntar sobre a rotina antes de oferecer contratação. Nenhum contato comercial oficial foi fornecido. Não inventar telefone, domínio ou e-mail.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66a5715af43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a956a1cc324425" /><Relationship Type="http://schemas.openxmlformats.org/officeDocument/2006/relationships/slideLayout" Target="/ppt/slideLayouts/slideLayout1.xml" Id="R1a8ee2710ba345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8ee2710ba345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f5b534bed4d59" /><Relationship Type="http://schemas.openxmlformats.org/officeDocument/2006/relationships/notesSlide" Target="/ppt/notesSlides/notesSlide1.xml" Id="Rc88a87e5571448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8c956949c4ff7" /><Relationship Type="http://schemas.openxmlformats.org/officeDocument/2006/relationships/notesSlide" Target="/ppt/notesSlides/notesSlide2.xml" Id="R6700e286e2f44b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4aa5d903f41dd" /><Relationship Type="http://schemas.openxmlformats.org/officeDocument/2006/relationships/notesSlide" Target="/ppt/notesSlides/notesSlide3.xml" Id="R48545afa2b3a46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818bdadbe4d83" /><Relationship Type="http://schemas.openxmlformats.org/officeDocument/2006/relationships/notesSlide" Target="/ppt/notesSlides/notesSlide4.xml" Id="R3d009538356142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930ebe4ee4aeb" /><Relationship Type="http://schemas.openxmlformats.org/officeDocument/2006/relationships/notesSlide" Target="/ppt/notesSlides/notesSlide5.xml" Id="Re3337851432749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18ebd912e4251" /><Relationship Type="http://schemas.openxmlformats.org/officeDocument/2006/relationships/notesSlide" Target="/ppt/notesSlides/notesSlide6.xml" Id="R19bdfbe5989f4e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3D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CDA83-57CF-4BD9-9DCD-99490C4E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garagem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67FA9-F125-46B8-ADB4-D11D180B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0">
                <a:solidFill>
                  <a:srgbClr val="F1F5ED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F1F5ED"/>
                </a:solidFill>
                <a:latin typeface="Arial"/>
                <a:ea typeface="Arial"/>
                <a:cs typeface="Arial"/>
              </a:rPr>
              <a:t>Sua oficina já tem clientes.</a:t>
            </a:r>
          </a:p>
          <a:p xmlns:a="http://schemas.openxmlformats.org/drawingml/2006/main">
            <a:pPr>
              <a:defRPr sz="4050" b="0">
                <a:solidFill>
                  <a:srgbClr val="F1F5ED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F1F5ED"/>
                </a:solidFill>
                <a:latin typeface="Arial"/>
                <a:ea typeface="Arial"/>
                <a:cs typeface="Arial"/>
              </a:rPr>
              <a:t>Faça eles voltarem.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56691-97D8-4E2C-8C67-3EBC8BC4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6E3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6E3D5"/>
                </a:solidFill>
                <a:latin typeface="Arial"/>
                <a:ea typeface="Arial"/>
                <a:cs typeface="Arial"/>
              </a:rPr>
              <a:t>Gestão de oficinas mecânicas</a:t>
            </a:r>
          </a:p>
        </p:txBody>
      </p:sp>
    </p:spTree>
    <p:extLst>
      <p:ext uri="{BB962C8B-B14F-4D97-AF65-F5344CB8AC3E}">
        <p14:creationId xmlns:p14="http://schemas.microsoft.com/office/powerpoint/2010/main" val="764607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166F5-7C14-4837-A6BB-B50F4078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33D34"/>
                </a:solidFill>
                <a:latin typeface="Arial"/>
                <a:ea typeface="Arial"/>
                <a:cs typeface="Arial"/>
              </a:rPr>
              <a:t>O atendimento em um só lugar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1C8AA-B581-4C1D-A91B-60B2E873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44C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C40"/>
                </a:solidFill>
                <a:latin typeface="Arial"/>
                <a:ea typeface="Arial"/>
                <a:cs typeface="Arial"/>
              </a:rPr>
              <a:t>Cliente e veículo vinculados à OS.</a:t>
            </a:r>
          </a:p>
          <a:p xmlns:a="http://schemas.openxmlformats.org/drawingml/2006/main">
            <a:pPr>
              <a:defRPr sz="2400" b="0">
                <a:solidFill>
                  <a:srgbClr val="344C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C40"/>
                </a:solidFill>
                <a:latin typeface="Arial"/>
                <a:ea typeface="Arial"/>
                <a:cs typeface="Arial"/>
              </a:rPr>
              <a:t>Checklist, fotos e diagnóstico no contexto do serviço.</a:t>
            </a:r>
          </a:p>
          <a:p xmlns:a="http://schemas.openxmlformats.org/drawingml/2006/main">
            <a:pPr>
              <a:defRPr sz="2400" b="0">
                <a:solidFill>
                  <a:srgbClr val="344C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C40"/>
                </a:solidFill>
                <a:latin typeface="Arial"/>
                <a:ea typeface="Arial"/>
                <a:cs typeface="Arial"/>
              </a:rPr>
              <a:t>Orçamento com versões e decisão pelo link do cliente.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D0056-72E9-467C-8509-2D651B1C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58"/>
                </a:solidFill>
                <a:latin typeface="Arial"/>
                <a:ea typeface="Arial"/>
                <a:cs typeface="Arial"/>
              </a:rPr>
              <a:t>O envio do link é manual, pelo canal combinado com o cliente.</a:t>
            </a:r>
          </a:p>
        </p:txBody>
      </p:sp>
    </p:spTree>
    <p:extLst>
      <p:ext uri="{BB962C8B-B14F-4D97-AF65-F5344CB8AC3E}">
        <p14:creationId xmlns:p14="http://schemas.microsoft.com/office/powerpoint/2010/main" val="7268340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B24E1-0787-4883-9174-94272916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33D34"/>
                </a:solidFill>
                <a:latin typeface="Arial"/>
                <a:ea typeface="Arial"/>
                <a:cs typeface="Arial"/>
              </a:rPr>
              <a:t>Dinheiro Esquecido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C10A3-F66E-40FB-83ED-9BD003C1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44C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C40"/>
                </a:solidFill>
                <a:latin typeface="Arial"/>
                <a:ea typeface="Arial"/>
                <a:cs typeface="Arial"/>
              </a:rPr>
              <a:t>Orçamento sem resposta. Revisão atrasada. Reavaliação pendente.</a:t>
            </a:r>
          </a:p>
          <a:p xmlns:a="http://schemas.openxmlformats.org/drawingml/2006/main">
            <a:pPr>
              <a:defRPr sz="2400" b="0">
                <a:solidFill>
                  <a:srgbClr val="344C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C40"/>
                </a:solidFill>
                <a:latin typeface="Arial"/>
                <a:ea typeface="Arial"/>
                <a:cs typeface="Arial"/>
              </a:rPr>
              <a:t>Cada oportunidade mostra sua origem e a próxima ação.</a:t>
            </a:r>
          </a:p>
          <a:p xmlns:a="http://schemas.openxmlformats.org/drawingml/2006/main">
            <a:pPr>
              <a:defRPr sz="2400" b="0">
                <a:solidFill>
                  <a:srgbClr val="344C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C40"/>
                </a:solidFill>
                <a:latin typeface="Arial"/>
                <a:ea typeface="Arial"/>
                <a:cs typeface="Arial"/>
              </a:rPr>
              <a:t>A equipe registra o contato e o valor confirmado como recuperado.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16892-CEA2-43D8-A2E9-A5F4B059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58"/>
                </a:solidFill>
                <a:latin typeface="Arial"/>
                <a:ea typeface="Arial"/>
                <a:cs typeface="Arial"/>
              </a:rPr>
              <a:t>Valor potencial é uma estimativa. Recuperação registrada não é conciliação de pagamentos.</a:t>
            </a:r>
          </a:p>
        </p:txBody>
      </p:sp>
    </p:spTree>
    <p:extLst>
      <p:ext uri="{BB962C8B-B14F-4D97-AF65-F5344CB8AC3E}">
        <p14:creationId xmlns:p14="http://schemas.microsoft.com/office/powerpoint/2010/main" val="8669909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ED9E0-79B7-47D6-B04E-C2D7BE0A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33D34"/>
                </a:solidFill>
                <a:latin typeface="Arial"/>
                <a:ea typeface="Arial"/>
                <a:cs typeface="Arial"/>
              </a:rPr>
              <a:t>Um começo acompanhado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8F342-07E9-46A7-9B51-5B9347E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44C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C40"/>
                </a:solidFill>
                <a:latin typeface="Arial"/>
                <a:ea typeface="Arial"/>
                <a:cs typeface="Arial"/>
              </a:rPr>
              <a:t>A equipe prepara o acesso da oficina.</a:t>
            </a:r>
          </a:p>
          <a:p xmlns:a="http://schemas.openxmlformats.org/drawingml/2006/main">
            <a:pPr>
              <a:defRPr sz="2400" b="0">
                <a:solidFill>
                  <a:srgbClr val="344C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C40"/>
                </a:solidFill>
                <a:latin typeface="Arial"/>
                <a:ea typeface="Arial"/>
                <a:cs typeface="Arial"/>
              </a:rPr>
              <a:t>O proprietário confere os perfis de acesso.</a:t>
            </a:r>
          </a:p>
          <a:p xmlns:a="http://schemas.openxmlformats.org/drawingml/2006/main">
            <a:pPr>
              <a:defRPr sz="2400" b="0">
                <a:solidFill>
                  <a:srgbClr val="344C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C40"/>
                </a:solidFill>
                <a:latin typeface="Arial"/>
                <a:ea typeface="Arial"/>
                <a:cs typeface="Arial"/>
              </a:rPr>
              <a:t>Cliente e veículo cadastrados permitem abrir a primeira 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9B366-4035-46BD-9ECA-01B2E3A3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58"/>
                </a:solidFill>
                <a:latin typeface="Arial"/>
                <a:ea typeface="Arial"/>
                <a:cs typeface="Arial"/>
              </a:rPr>
              <a:t>O guia Primeiros passos consulta os registros da oficina e indica onde continuar.</a:t>
            </a:r>
          </a:p>
        </p:txBody>
      </p:sp>
    </p:spTree>
    <p:extLst>
      <p:ext uri="{BB962C8B-B14F-4D97-AF65-F5344CB8AC3E}">
        <p14:creationId xmlns:p14="http://schemas.microsoft.com/office/powerpoint/2010/main" val="17908559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2A8F1-BB00-4237-B1B1-3B3719D9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33D34"/>
                </a:solidFill>
                <a:latin typeface="Arial"/>
                <a:ea typeface="Arial"/>
                <a:cs typeface="Arial"/>
              </a:rPr>
              <a:t>Garagem Oficina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DDD0F-0E49-4248-A74F-8DA2BA9A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44C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C40"/>
                </a:solidFill>
                <a:latin typeface="Arial"/>
                <a:ea typeface="Arial"/>
                <a:cs typeface="Arial"/>
              </a:rPr>
              <a:t>Operação de OS e acompanhamento do cliente.</a:t>
            </a:r>
          </a:p>
          <a:p xmlns:a="http://schemas.openxmlformats.org/drawingml/2006/main">
            <a:pPr>
              <a:defRPr sz="2400" b="0">
                <a:solidFill>
                  <a:srgbClr val="344C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C40"/>
                </a:solidFill>
                <a:latin typeface="Arial"/>
                <a:ea typeface="Arial"/>
                <a:cs typeface="Arial"/>
              </a:rPr>
              <a:t>Carteira de oportunidades com contato manual.</a:t>
            </a:r>
          </a:p>
          <a:p xmlns:a="http://schemas.openxmlformats.org/drawingml/2006/main">
            <a:pPr>
              <a:defRPr sz="2400" b="0">
                <a:solidFill>
                  <a:srgbClr val="344C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C40"/>
                </a:solidFill>
                <a:latin typeface="Arial"/>
                <a:ea typeface="Arial"/>
                <a:cs typeface="Arial"/>
              </a:rPr>
              <a:t>Preço, usuários, armazenamento e suporte sob consulta.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294A5-03B6-4BB1-8086-6421302B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58"/>
                </a:solidFill>
                <a:latin typeface="Arial"/>
                <a:ea typeface="Arial"/>
                <a:cs typeface="Arial"/>
              </a:rPr>
              <a:t>Fora da oferta: estoque, financeiro/fiscal, agenda operacional, gestão do pátio e envio automático.</a:t>
            </a:r>
          </a:p>
        </p:txBody>
      </p:sp>
    </p:spTree>
    <p:extLst>
      <p:ext uri="{BB962C8B-B14F-4D97-AF65-F5344CB8AC3E}">
        <p14:creationId xmlns:p14="http://schemas.microsoft.com/office/powerpoint/2010/main" val="1342401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33D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5862F-47E6-438A-A203-B1EBAC72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próxima conversa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8E0BE-442E-48D9-A59D-1F437C42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1F5E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1F5ED"/>
                </a:solidFill>
                <a:latin typeface="Arial"/>
                <a:ea typeface="Arial"/>
                <a:cs typeface="Arial"/>
              </a:rPr>
              <a:t>Qual etapa hoje depende de memória ou de mensagens soltas?</a:t>
            </a:r>
          </a:p>
          <a:p xmlns:a="http://schemas.openxmlformats.org/drawingml/2006/main">
            <a:pPr>
              <a:defRPr sz="2400" b="0">
                <a:solidFill>
                  <a:srgbClr val="F1F5E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1F5ED"/>
                </a:solidFill>
                <a:latin typeface="Arial"/>
                <a:ea typeface="Arial"/>
                <a:cs typeface="Arial"/>
              </a:rPr>
              <a:t>Vamos demonstrar essa rotina com um exemplo da sua operação.</a:t>
            </a:r>
          </a:p>
          <a:p xmlns:a="http://schemas.openxmlformats.org/drawingml/2006/main">
            <a:pPr>
              <a:defRPr sz="2400" b="0">
                <a:solidFill>
                  <a:srgbClr val="F1F5E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1F5ED"/>
                </a:solidFill>
                <a:latin typeface="Arial"/>
                <a:ea typeface="Arial"/>
                <a:cs typeface="Arial"/>
              </a:rPr>
              <a:t>Depois, combinamos escopo e condições da proposta.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251D9-DFDD-49D5-8744-D8A157DA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6E3D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6E3D5"/>
                </a:solidFill>
                <a:latin typeface="Arial"/>
                <a:ea typeface="Arial"/>
                <a:cs typeface="Arial"/>
              </a:rPr>
              <a:t>Fale com quem apresentou o Garagem à sua oficina.</a:t>
            </a:r>
          </a:p>
        </p:txBody>
      </p:sp>
    </p:spTree>
    <p:extLst>
      <p:ext uri="{BB962C8B-B14F-4D97-AF65-F5344CB8AC3E}">
        <p14:creationId xmlns:p14="http://schemas.microsoft.com/office/powerpoint/2010/main" val="18946412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2026-09-17T15:07:15.1000000Z</dcterms:created>
  <dcterms:modified xsi:type="dcterms:W3CDTF">2026-09-17T15:07:15.1000000Z</dcterms:modified>
</coreProperties>
</file>